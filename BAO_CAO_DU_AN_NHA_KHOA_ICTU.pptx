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3D79"/>
                </a:solidFill>
                <a:latin typeface="Times New Roman"/>
              </a:defRPr>
            </a:pPr>
            <a:r>
              <a:t>BÁO CÁO MÔN: ỨNG DỤNG TRÍ TUỆ NHÂN TẠO</a:t>
            </a:r>
          </a:p>
          <a:p>
            <a:pPr algn="ctr">
              <a:spcBef>
                <a:spcPts val="1200"/>
              </a:spcBef>
              <a:defRPr sz="2500" b="1">
                <a:solidFill>
                  <a:srgbClr val="B92700"/>
                </a:solidFill>
                <a:latin typeface="Times New Roman"/>
              </a:defRPr>
            </a:pPr>
            <a:r>
              <a:t>Đề tài: Hệ thống quản lý nha khoa có tích hợp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3931920"/>
            <a:ext cx="6339535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63D79"/>
                </a:solidFill>
                <a:latin typeface="Times New Roman"/>
              </a:rPr>
              <a:t>   Sinh viên thực hiện: Nhóm 1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   • Tạ Thị Thúy Quỳnh (Trưởng nhóm)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Times New Roman"/>
              </a:rPr>
              <a:t>   • Ngô Xuân Minh Hiếu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Times New Roman"/>
              </a:rPr>
              <a:t>   • Lưu Tuấn 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Nội dung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‹#2›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100" b="1">
                <a:solidFill>
                  <a:srgbClr val="0F172A"/>
                </a:solidFill>
                <a:latin typeface="Times New Roman"/>
              </a:rPr>
              <a:t>1. Tổng quan về công nghệ phần mềm &amp; Trí tuệ nhân tạo (AI)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100" b="1">
                <a:solidFill>
                  <a:srgbClr val="0F172A"/>
                </a:solidFill>
                <a:latin typeface="Times New Roman"/>
              </a:rPr>
              <a:t>2. Lập kế hoạch dự án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100" b="1">
                <a:solidFill>
                  <a:srgbClr val="0F172A"/>
                </a:solidFill>
                <a:latin typeface="Times New Roman"/>
              </a:rPr>
              <a:t>3. Khảo sát và phân tích yêu cầu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100" b="1">
                <a:solidFill>
                  <a:srgbClr val="0F172A"/>
                </a:solidFill>
                <a:latin typeface="Times New Roman"/>
              </a:rPr>
              <a:t>4. Phân tích và thiết kế hệ thống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100" b="1">
                <a:solidFill>
                  <a:srgbClr val="0F172A"/>
                </a:solidFill>
                <a:latin typeface="Times New Roman"/>
              </a:rPr>
              <a:t>5. Thiết kế dữ liệu và cài đặt demo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2100" b="1">
                <a:solidFill>
                  <a:srgbClr val="0F172A"/>
                </a:solidFill>
                <a:latin typeface="Times New Roman"/>
              </a:rPr>
              <a:t>6. Kiểm thử phần mềm &amp; Đánh giá mô hình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1. TỔNG QUAN VỀ CÔNG NGHỆ PHẦN MỀM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‹#3›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0F172A"/>
                </a:solidFill>
                <a:latin typeface="Times New Roman"/>
              </a:rPr>
              <a:t>1.1. Phần mềm (Software): Nền tảng web quản lý phòng khám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0F172A"/>
                </a:solidFill>
                <a:latin typeface="Times New Roman"/>
              </a:rPr>
              <a:t>1.2. Phần cứng (Hardware): Máy chủ CSDL và thiết bị đầu cuối y tế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Times New Roman"/>
              </a:rPr>
              <a:t>1.3. Các mô hình phát triển phần mềm</a:t>
            </a:r>
          </a:p>
          <a:p>
            <a:pPr lvl="1">
              <a:lnSpc>
                <a:spcPct val="120000"/>
              </a:lnSpc>
              <a:spcAft>
                <a:spcPts val="500"/>
              </a:spcAft>
            </a:pPr>
            <a:r>
              <a:rPr sz="1800" b="0">
                <a:solidFill>
                  <a:srgbClr val="0F172A"/>
                </a:solidFill>
                <a:latin typeface="Times New Roman"/>
              </a:rPr>
              <a:t>   a. Mô hình thác nước (Waterfall Model - Áp dụng trong đồ án)</a:t>
            </a:r>
          </a:p>
          <a:p>
            <a:pPr lvl="1">
              <a:lnSpc>
                <a:spcPct val="120000"/>
              </a:lnSpc>
              <a:spcAft>
                <a:spcPts val="500"/>
              </a:spcAft>
            </a:pPr>
            <a:r>
              <a:rPr sz="1800" b="0">
                <a:solidFill>
                  <a:srgbClr val="0F172A"/>
                </a:solidFill>
                <a:latin typeface="Times New Roman"/>
              </a:rPr>
              <a:t>   b. Mô hình mẫu thử (Prototyping Model)</a:t>
            </a:r>
          </a:p>
          <a:p>
            <a:pPr lvl="1">
              <a:lnSpc>
                <a:spcPct val="120000"/>
              </a:lnSpc>
              <a:spcAft>
                <a:spcPts val="500"/>
              </a:spcAft>
            </a:pPr>
            <a:r>
              <a:rPr sz="1800" b="0">
                <a:solidFill>
                  <a:srgbClr val="0F172A"/>
                </a:solidFill>
                <a:latin typeface="Times New Roman"/>
              </a:rPr>
              <a:t>   c. Mô hình phát triển dựa trên thành phần (CBSE)</a:t>
            </a:r>
          </a:p>
          <a:p>
            <a:pPr lvl="1"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Times New Roman"/>
              </a:rPr>
              <a:t>   d. Mô hình xoắn ốc (Spiral Model)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0F172A"/>
                </a:solidFill>
                <a:latin typeface="Times New Roman"/>
              </a:rPr>
              <a:t>1.4. Ứng dụng Trí tuệ nhân tạo (AI) trong nha khoa hiện đại</a:t>
            </a:r>
          </a:p>
          <a:p>
            <a:pPr lvl="1">
              <a:lnSpc>
                <a:spcPct val="120000"/>
              </a:lnSpc>
              <a:spcAft>
                <a:spcPts val="500"/>
              </a:spcAft>
            </a:pPr>
            <a:r>
              <a:rPr sz="1800" b="0">
                <a:solidFill>
                  <a:srgbClr val="0F172A"/>
                </a:solidFill>
                <a:latin typeface="Times New Roman"/>
              </a:rPr>
              <a:t>   • Trợ lý AI Chatbot RAG (Retrieval-Augmented Generation) tư vấn 24/7</a:t>
            </a:r>
          </a:p>
          <a:p>
            <a:pPr lvl="1">
              <a:lnSpc>
                <a:spcPct val="120000"/>
              </a:lnSpc>
              <a:spcAft>
                <a:spcPts val="500"/>
              </a:spcAft>
            </a:pPr>
            <a:r>
              <a:rPr sz="1800" b="0">
                <a:solidFill>
                  <a:srgbClr val="0F172A"/>
                </a:solidFill>
                <a:latin typeface="Times New Roman"/>
              </a:rPr>
              <a:t>   • Tự động phân tích triệu chứng và gợi ý chuyên khoa phù hợp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2. LẬP KẾ HOẠCH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‹#4›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Times New Roman"/>
              </a:defRPr>
            </a:pPr>
            <a:r>
              <a:t>2.1. Lý do chọn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•  </a:t>
            </a:r>
            <a:r>
              <a:rPr sz="1800">
                <a:solidFill>
                  <a:srgbClr val="1E293B"/>
                </a:solidFill>
                <a:latin typeface="Times New Roman"/>
              </a:rPr>
              <a:t>Nhu cầu chăm sóc răng miệng &amp; thẩm mỹ nụ cười ngày càng tăng cao, nhiều phòng khám nha khoa hiện đại được mở ra.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•  </a:t>
            </a:r>
            <a:r>
              <a:rPr sz="1800">
                <a:solidFill>
                  <a:srgbClr val="1E293B"/>
                </a:solidFill>
                <a:latin typeface="Times New Roman"/>
              </a:rPr>
              <a:t>Việc quản lý hiện nay chủ yếu thủ công (sổ sách, Excel, tin nhắn) nên dễ sai sót, trùng lịch hẹn bác sĩ và mất nhiều thời gian.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•  </a:t>
            </a:r>
            <a:r>
              <a:rPr sz="1800">
                <a:solidFill>
                  <a:srgbClr val="1E293B"/>
                </a:solidFill>
                <a:latin typeface="Times New Roman"/>
              </a:rPr>
              <a:t>Khó theo dõi lịch trực của đội ngũ bác sĩ, khó quản lý hồ sơ bệnh án, danh mục dịch vụ và thống kê doanh thu phòng khám.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• 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Cần xây dựng hệ thống đặt lịch và quản lý phòng khám nha khoa có tích hợp Trí tuệ nhân tạo (AI Assistant) hỗ trợ 24/7.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• 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Hệ thống giúp tự động hóa quản lý, nâng cao hiệu quả hoạt động, loại bỏ trùng lịch và nâng cao trải nghiệm người bệnh.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2. LẬP KẾ HOẠCH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‹#5›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Times New Roman"/>
              </a:defRPr>
            </a:pPr>
            <a:r>
              <a:t>2.2. Sơ lược về dự 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- Dự án: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Hệ thống quản lý nha khoa có tích hợp AI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- Mô hình sử dụng: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Mô hình thác nước (Waterfall Model) kết hợp thử nghiệm AI Prompting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- Thời gian: </a:t>
            </a:r>
            <a:r>
              <a:rPr sz="1800">
                <a:solidFill>
                  <a:srgbClr val="1E293B"/>
                </a:solidFill>
                <a:latin typeface="Times New Roman"/>
              </a:rPr>
              <a:t>9 tuần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- Công việc: 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   • Giai đoạn 1: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Thu thập yêu cầu và phân tích đặc tả yêu cầu hệ thống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   • Giai đoạn 2: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Phân tích, thiết kế hệ thống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   • Giai đoạn 3: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Cài đặt &amp; tích hợp AI Chatbot RAG Pipeline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   • Giai đoạn 4: </a:t>
            </a:r>
            <a:r>
              <a:rPr sz="1800">
                <a:solidFill>
                  <a:srgbClr val="1E293B"/>
                </a:solidFill>
                <a:latin typeface="Times New Roman"/>
              </a:rPr>
              <a:t>Kiểm thử và triển khai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- Kinh phí: </a:t>
            </a:r>
            <a:r>
              <a:rPr sz="1800">
                <a:solidFill>
                  <a:srgbClr val="1E293B"/>
                </a:solidFill>
                <a:latin typeface="Times New Roman"/>
              </a:rPr>
              <a:t>75 000 000 (VNĐ)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3. KHẢO SÁT VÀ PHÂN TÍCH YÊU CẦU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‹#6›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Times New Roman"/>
              </a:defRPr>
            </a:pPr>
            <a:r>
              <a:t>3.1. Khảo sát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>
                <a:solidFill>
                  <a:srgbClr val="1E293B"/>
                </a:solidFill>
                <a:latin typeface="Times New Roman"/>
              </a:defRPr>
            </a:pPr>
            <a:r>
              <a:t>- Qua khảo sát thực tế tại phòng khám nha khoa, nhóm nhận thấy việc quản lý theo phương pháp thủ công còn tồn tại nhiều hạn chế như sau:</a:t>
            </a:r>
          </a:p>
        </p:txBody>
      </p:sp>
      <p:pic>
        <p:nvPicPr>
          <p:cNvPr id="9" name="Picture 8" descr="chart_surv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468880"/>
            <a:ext cx="731520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3. KHẢO SÁT VÀ PHÂN TÍCH YÊU CẦU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‹#7›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81"/>
                </a:solidFill>
                <a:latin typeface="Times New Roman"/>
              </a:defRPr>
            </a:pPr>
            <a:r>
              <a:t>3.2. Nhu cầu người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900" b="1">
                <a:solidFill>
                  <a:srgbClr val="0F4C81"/>
                </a:solidFill>
                <a:latin typeface="Times New Roman"/>
              </a:rPr>
              <a:t>•  </a:t>
            </a:r>
            <a:r>
              <a:rPr sz="1900" b="1">
                <a:solidFill>
                  <a:srgbClr val="0F172A"/>
                </a:solidFill>
                <a:latin typeface="Times New Roman"/>
              </a:rPr>
              <a:t>Chủ phòng khám: </a:t>
            </a:r>
            <a:r>
              <a:rPr sz="1900">
                <a:solidFill>
                  <a:srgbClr val="1E293B"/>
                </a:solidFill>
                <a:latin typeface="Times New Roman"/>
              </a:rPr>
              <a:t>Cần quản lý minh bạch doanh thu, theo dõi số ca khám, hiệu suất bác sĩ và quản trị dịch vụ toàn diện.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900" b="1">
                <a:solidFill>
                  <a:srgbClr val="0F4C81"/>
                </a:solidFill>
                <a:latin typeface="Times New Roman"/>
              </a:rPr>
              <a:t>•  </a:t>
            </a:r>
            <a:r>
              <a:rPr sz="1900" b="1">
                <a:solidFill>
                  <a:srgbClr val="0F172A"/>
                </a:solidFill>
                <a:latin typeface="Times New Roman"/>
              </a:rPr>
              <a:t>Nhân viên / Bác sĩ: </a:t>
            </a:r>
            <a:r>
              <a:rPr sz="1900">
                <a:solidFill>
                  <a:srgbClr val="1E293B"/>
                </a:solidFill>
                <a:latin typeface="Times New Roman"/>
              </a:rPr>
              <a:t>Cần công cụ hỗ trợ tiếp nhận ca khám, duyệt lịch, xem slot theo ngày, thao tác nhanh và giảm sai sót.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900" b="1">
                <a:solidFill>
                  <a:srgbClr val="0F4C81"/>
                </a:solidFill>
                <a:latin typeface="Times New Roman"/>
              </a:rPr>
              <a:t>•  </a:t>
            </a:r>
            <a:r>
              <a:rPr sz="1900" b="1">
                <a:solidFill>
                  <a:srgbClr val="0F172A"/>
                </a:solidFill>
                <a:latin typeface="Times New Roman"/>
              </a:rPr>
              <a:t>Khách hàng / Bệnh nhân: </a:t>
            </a:r>
            <a:r>
              <a:rPr sz="1900">
                <a:solidFill>
                  <a:srgbClr val="1E293B"/>
                </a:solidFill>
                <a:latin typeface="Times New Roman"/>
              </a:rPr>
              <a:t>Cần tiện lợi, chủ động tra cứu bảng giá, chọn bác sĩ, đặt lịch khám 24/7 và được trợ lý AI tư vấn tức thời.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3. KHẢO SÁT VÀ PHÂN TÍCH YÊU CẦU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‹#8›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81"/>
                </a:solidFill>
                <a:latin typeface="Times New Roman"/>
              </a:defRPr>
            </a:pPr>
            <a:r>
              <a:t>3.3. Đề xuất hệ thống mới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F4C81"/>
                </a:solidFill>
                <a:latin typeface="Times New Roman"/>
              </a:rPr>
              <a:t>Yêu cầu chức năng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Quản lý dịch vụ nha khoa: thêm, sửa, xóa, tra cứu thông tin &amp; bảng giá.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Đặt lịch khám và tra cứu lịch trống theo bác sĩ chuyên khoa.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Quản lý danh sách lịch hẹn, duyệt, hủy và cập nhật trạng thái ca khám.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Thống kê lượt khám, doanh thu và tích hợp AI Chatbot tư vấn 24/7.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4C81"/>
                </a:solidFill>
                <a:latin typeface="Times New Roman"/>
              </a:rPr>
              <a:t>Yêu cầu phi chức năng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Hệ thống hoạt động ổn định, chính xác, tính sẵn sàng cao.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Xử lý nhanh, phản hồi &lt; 1.5s, AI API &lt; 2s.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Bảo mật dữ liệu bệnh nhân, mã hóa mật khẩu Bcrypt.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Giao diện dễ sử dụng, thân thiện chuẩn Responsive.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0F4C81"/>
                </a:solidFill>
                <a:latin typeface="Times New Roman"/>
              </a:rPr>
              <a:t>Yêu cầu miền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Mỗi bác sĩ có chuyên khoa, ca trực và trạng thái làm việc.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Không được đặt trùng một bác sĩ trong cùng khung giờ khám.</a:t>
            </a:r>
          </a:p>
          <a:p>
            <a:pPr lvl="1">
              <a:lnSpc>
                <a:spcPct val="115000"/>
              </a:lnSpc>
              <a:spcAft>
                <a:spcPts val="250"/>
              </a:spcAft>
            </a:pPr>
            <a:r>
              <a:rPr sz="1100">
                <a:solidFill>
                  <a:srgbClr val="1E293B"/>
                </a:solidFill>
                <a:latin typeface="Times New Roman"/>
              </a:rPr>
              <a:t>• Bệnh nhân phải nhập đầy đủ họ tên, SĐT khi đặt lịch khám.</a:t>
            </a:r>
          </a:p>
        </p:txBody>
      </p:sp>
      <p:pic>
        <p:nvPicPr>
          <p:cNvPr id="9" name="Picture 8" descr="tree_fun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4. PHÂN TÍCH VÀ THIẾT KẾ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‹#9›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4C81"/>
                </a:solidFill>
                <a:latin typeface="Times New Roman"/>
              </a:defRPr>
            </a:pPr>
            <a:r>
              <a:t>4.1. Use case tổng quát &amp; phân rã</a:t>
            </a:r>
          </a:p>
        </p:txBody>
      </p:sp>
      <p:pic>
        <p:nvPicPr>
          <p:cNvPr id="8" name="Picture 7" descr="diagram_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00200"/>
            <a:ext cx="9418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4. PHÂN TÍCH VÀ THIẾT KẾ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‹#10›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81"/>
                </a:solidFill>
                <a:latin typeface="Times New Roman"/>
              </a:defRPr>
            </a:pPr>
            <a:r>
              <a:t>4.2. Biểu đồ trình tự</a:t>
            </a:r>
          </a:p>
          <a:p>
            <a:pPr>
              <a:defRPr sz="1700" b="1">
                <a:solidFill>
                  <a:srgbClr val="4F81BD"/>
                </a:solidFill>
                <a:latin typeface="Times New Roman"/>
              </a:defRPr>
            </a:pPr>
            <a:r>
              <a:t>• Xem lịch khám trống &amp; Hỏi đáp AI</a:t>
            </a:r>
          </a:p>
        </p:txBody>
      </p:sp>
      <p:pic>
        <p:nvPicPr>
          <p:cNvPr id="8" name="Picture 7" descr="seq_xem_li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75895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4. PHÂN TÍCH VÀ THIẾT KẾ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‹#11›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81"/>
                </a:solidFill>
                <a:latin typeface="Times New Roman"/>
              </a:defRPr>
            </a:pPr>
            <a:r>
              <a:t>• Tiếp nhận đặt lịch</a:t>
            </a:r>
          </a:p>
        </p:txBody>
      </p:sp>
      <p:pic>
        <p:nvPicPr>
          <p:cNvPr id="8" name="Picture 7" descr="seq_tiep_n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280160"/>
            <a:ext cx="75895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4. PHÂN TÍCH VÀ THIẾT KẾ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‹#12›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81"/>
                </a:solidFill>
                <a:latin typeface="Times New Roman"/>
              </a:defRPr>
            </a:pPr>
            <a:r>
              <a:t>4.3. Sơ đồ hoạt động</a:t>
            </a:r>
          </a:p>
          <a:p>
            <a:pPr>
              <a:defRPr sz="1700" b="1">
                <a:solidFill>
                  <a:srgbClr val="4F81BD"/>
                </a:solidFill>
                <a:latin typeface="Times New Roman"/>
              </a:defRPr>
            </a:pPr>
            <a:r>
              <a:t>• Xem lịch khám trống</a:t>
            </a:r>
          </a:p>
        </p:txBody>
      </p:sp>
      <p:pic>
        <p:nvPicPr>
          <p:cNvPr id="8" name="Picture 7" descr="act_xem_li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75895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4. PHÂN TÍCH VÀ THIẾT KẾ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‹#13›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81"/>
                </a:solidFill>
                <a:latin typeface="Times New Roman"/>
              </a:defRPr>
            </a:pPr>
            <a:r>
              <a:t>• Đặt lịch khám</a:t>
            </a:r>
          </a:p>
        </p:txBody>
      </p:sp>
      <p:pic>
        <p:nvPicPr>
          <p:cNvPr id="8" name="Picture 7" descr="act_dat_li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280160"/>
            <a:ext cx="75895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4. PHÂN TÍCH VÀ THIẾT KẾ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‹#14›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4C81"/>
                </a:solidFill>
                <a:latin typeface="Times New Roman"/>
              </a:defRPr>
            </a:pPr>
            <a:r>
              <a:t>4.4. Sơ đồ lớp:</a:t>
            </a:r>
          </a:p>
        </p:txBody>
      </p:sp>
      <p:pic>
        <p:nvPicPr>
          <p:cNvPr id="8" name="Picture 7" descr="diagram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280160"/>
            <a:ext cx="795527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4. PHÂN TÍCH VÀ THIẾT KẾ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‹#15›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81"/>
                </a:solidFill>
                <a:latin typeface="Times New Roman"/>
              </a:defRPr>
            </a:pPr>
            <a:r>
              <a:t>4.5. Lựa chọn mô hình kiến trúc</a:t>
            </a:r>
          </a:p>
          <a:p>
            <a:pPr>
              <a:defRPr sz="1700" b="1">
                <a:solidFill>
                  <a:srgbClr val="4F81BD"/>
                </a:solidFill>
                <a:latin typeface="Times New Roman"/>
              </a:defRPr>
            </a:pPr>
            <a:r>
              <a:t>Sử dụng kiến trúc phân tầng tích hợp AI</a:t>
            </a:r>
          </a:p>
        </p:txBody>
      </p:sp>
      <p:pic>
        <p:nvPicPr>
          <p:cNvPr id="8" name="Picture 7" descr="diagr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62179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5. THIẾT KẾ CSDL &amp; CÀI ĐẶT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‹#16›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81"/>
                </a:solidFill>
                <a:latin typeface="Times New Roman"/>
              </a:defRPr>
            </a:pPr>
            <a:r>
              <a:t>5.1. Thiết kế cấu trúc cơ sở dữ liệu</a:t>
            </a:r>
          </a:p>
        </p:txBody>
      </p:sp>
      <p:pic>
        <p:nvPicPr>
          <p:cNvPr id="8" name="Picture 7" descr="diagram_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280160"/>
            <a:ext cx="76809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5. THIẾT KẾ CSDL &amp; CÀI ĐẶT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‹#17›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4C81"/>
                </a:solidFill>
                <a:latin typeface="Times New Roman"/>
              </a:defRPr>
            </a:pPr>
            <a:r>
              <a:t>5.2. Thiết kế giao diện</a:t>
            </a:r>
          </a:p>
          <a:p>
            <a:pPr>
              <a:defRPr sz="1600">
                <a:solidFill>
                  <a:srgbClr val="475569"/>
                </a:solidFill>
                <a:latin typeface="Times New Roman"/>
              </a:defRPr>
            </a:pPr>
            <a:r>
              <a:t>   ◦ Một số giao diện demo</a:t>
            </a:r>
          </a:p>
        </p:txBody>
      </p:sp>
      <p:pic>
        <p:nvPicPr>
          <p:cNvPr id="8" name="Picture 7" descr="mockup_booking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566928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Mô tả: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Times New Roman"/>
              </a:rPr>
              <a:t>Giao diện: Đặt lịch khám của tôi &amp; AI Chatbot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400" b="0">
                <a:solidFill>
                  <a:srgbClr val="0F172A"/>
                </a:solidFill>
                <a:latin typeface="Times New Roman"/>
              </a:rPr>
              <a:t>Dành cho khách hàng thực hiện đặt lịch khám &amp; nhận tư vấn.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Times New Roman"/>
              </a:rPr>
              <a:t>Hiển thị: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0F172A"/>
                </a:solidFill>
                <a:latin typeface="Times New Roman"/>
              </a:rPr>
              <a:t>• Form nhập thông tin bệnh nhân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0F172A"/>
                </a:solidFill>
                <a:latin typeface="Times New Roman"/>
              </a:rPr>
              <a:t>• Thông tin dịch vụ, bác sĩ chuyên khoa, ngày, giờ khám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0F172A"/>
                </a:solidFill>
                <a:latin typeface="Times New Roman"/>
              </a:rPr>
              <a:t>• Cửa sổ AI Chatbot tư vấn triệu chứng và chi phí 24/7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Times New Roman"/>
              </a:rPr>
              <a:t>Chức năng: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0F172A"/>
                </a:solidFill>
                <a:latin typeface="Times New Roman"/>
              </a:rPr>
              <a:t>• Nhập họ tên, số điện thoại, chọn dịch vụ...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1350" b="0">
                <a:solidFill>
                  <a:srgbClr val="0F172A"/>
                </a:solidFill>
                <a:latin typeface="Times New Roman"/>
              </a:rPr>
              <a:t>• Hỏi đáp tự động với AI về phác đồ và chi phí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350" b="0">
                <a:solidFill>
                  <a:srgbClr val="0F172A"/>
                </a:solidFill>
                <a:latin typeface="Times New Roman"/>
              </a:rPr>
              <a:t>• Gửi yêu cầu đặt lịch khám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Times New Roman"/>
              </a:rPr>
              <a:t>Mục đích: tạo đơn đặt khám nhanh chóng và chính xác, loại bỏ thời gian chờ đợi tại phòng khám.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6. KIỂM THỬ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‹#18›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4C81"/>
                </a:solidFill>
                <a:latin typeface="Times New Roman"/>
              </a:defRPr>
            </a:pPr>
            <a:r>
              <a:t>6.1. Kế hoạch kiểm thử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Các tính năng cần kiểm thử:</a:t>
            </a:r>
          </a:p>
          <a:p>
            <a:pPr lvl="1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E293B"/>
                </a:solidFill>
                <a:latin typeface="Times New Roman"/>
              </a:rPr>
              <a:t>• Tất cả các chức năng của hệ thống phòng khám nha khoa:</a:t>
            </a:r>
          </a:p>
          <a:p>
            <a:pPr lvl="1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Times New Roman"/>
              </a:rPr>
              <a:t>- Đăng nhập &amp; Đăng ký tài khoản</a:t>
            </a:r>
          </a:p>
          <a:p>
            <a:pPr lvl="1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Times New Roman"/>
              </a:rPr>
              <a:t>- Quản lý dịch vụ nha khoa &amp; bảng giá</a:t>
            </a:r>
          </a:p>
          <a:p>
            <a:pPr lvl="1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Times New Roman"/>
              </a:rPr>
              <a:t>- Quản lý đặt lịch khám &amp; Duyệt ca khám ...</a:t>
            </a:r>
          </a:p>
          <a:p>
            <a:pPr lvl="1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E293B"/>
                </a:solidFill>
                <a:latin typeface="Times New Roman"/>
              </a:rPr>
              <a:t>• Giao diện phần mềm &amp; Pipeline Trí tuệ nhân tạo (AI):</a:t>
            </a:r>
          </a:p>
          <a:p>
            <a:pPr lvl="1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Times New Roman"/>
              </a:rPr>
              <a:t>- Hiển thị đúng nội dung chuyên môn nha khoa</a:t>
            </a:r>
          </a:p>
          <a:p>
            <a:pPr lvl="1">
              <a:lnSpc>
                <a:spcPct val="120000"/>
              </a:lnSpc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Times New Roman"/>
              </a:rPr>
              <a:t>- Khả năng phản hồi thông minh, chính xác của Chatbot AI</a:t>
            </a:r>
          </a:p>
          <a:p>
            <a:pPr lvl="1">
              <a:lnSpc>
                <a:spcPct val="120000"/>
              </a:lnSpc>
              <a:spcAft>
                <a:spcPts val="1400"/>
              </a:spcAft>
            </a:pPr>
            <a:r>
              <a:rPr sz="1600" b="0">
                <a:solidFill>
                  <a:srgbClr val="1E293B"/>
                </a:solidFill>
                <a:latin typeface="Times New Roman"/>
              </a:rPr>
              <a:t>- Dễ sử dụng, thân thiện người dùng trên máy tính &amp; điện thoại ...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1">
                <a:solidFill>
                  <a:srgbClr val="0F4C81"/>
                </a:solidFill>
                <a:latin typeface="Times New Roman"/>
              </a:rPr>
              <a:t>Phương pháp kiểm thử</a:t>
            </a:r>
          </a:p>
          <a:p>
            <a:pPr lvl="1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0F172A"/>
                </a:solidFill>
                <a:latin typeface="Times New Roman"/>
              </a:rPr>
              <a:t>Phương pháp được lựa chọn: Kiểm thử bằng Bảng quyết định (Decision Table)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6. KIỂM THỬ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‹#19›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4C81"/>
                </a:solidFill>
                <a:latin typeface="Times New Roman"/>
              </a:defRPr>
            </a:pPr>
            <a:r>
              <a:t>6.2. Test case:</a:t>
            </a:r>
          </a:p>
          <a:p>
            <a:pPr>
              <a:defRPr sz="1800" b="1">
                <a:solidFill>
                  <a:srgbClr val="4F81BD"/>
                </a:solidFill>
                <a:latin typeface="Times New Roman"/>
              </a:defRPr>
            </a:pPr>
            <a:r>
              <a:t>Chức năng: Cập nhật &amp; Duyệt lịch hẹn khám (Admin):</a:t>
            </a:r>
          </a:p>
        </p:txBody>
      </p:sp>
      <p:pic>
        <p:nvPicPr>
          <p:cNvPr id="8" name="Picture 7" descr="mockup_admin_test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148840"/>
            <a:ext cx="8046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063D79"/>
                </a:solidFill>
                <a:latin typeface="Times New Roman"/>
              </a:defRPr>
            </a:pPr>
            <a:r>
              <a:t>6. KIỂM THỬ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6364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Times New Roman"/>
              </a:defRPr>
            </a:pPr>
            <a:r>
              <a:t>Môn: Ứng dụng Trí tuệ nhân tạo - Nhóm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626364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i="1">
                <a:solidFill>
                  <a:srgbClr val="E0F2FE"/>
                </a:solidFill>
                <a:latin typeface="Times New Roman"/>
              </a:defRPr>
            </a:pPr>
            <a:r>
              <a:t>Hệ thống quản lý nha khoa có 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50" b="1">
                <a:solidFill>
                  <a:srgbClr val="FFFFFF"/>
                </a:solidFill>
                <a:latin typeface="Times New Roman"/>
              </a:defRPr>
            </a:pPr>
            <a:r>
              <a:t>‹#20›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4C81"/>
                </a:solidFill>
                <a:latin typeface="Times New Roman"/>
              </a:defRPr>
            </a:pPr>
            <a:r>
              <a:t>Bảng quyết định: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5120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Điều kiện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TH1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TH2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TH3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TH4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TH5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TH6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Nhập họ tên BN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Chọn dịch vụ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Chọn ngày khám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Chọn giờ (8h-20h)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Không trùng lịch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Hành động hệ thống</a:t>
                      </a: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solidFill>
                      <a:srgbClr val="E9EE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Đặt lịch thành công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  <a:latin typeface="Times New Roman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  <a:latin typeface="Times New Roman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  <a:latin typeface="Times New Roman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  <a:latin typeface="Times New Roman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  <a:latin typeface="Times New Roman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mockup_validation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916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ic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063D79"/>
                </a:solidFill>
                <a:latin typeface="Times New Roman"/>
              </a:defRPr>
            </a:pPr>
            <a:r>
              <a:t>CẢM ƠN THẦY CÔ VÀ CÁC BẠN</a:t>
            </a:r>
            <a:br/>
            <a:r>
              <a:t>ĐÃ LẮNG NGHE!</a:t>
            </a:r>
          </a:p>
          <a:p>
            <a:pPr algn="ctr">
              <a:spcBef>
                <a:spcPts val="1200"/>
              </a:spcBef>
              <a:defRPr sz="2300" b="1">
                <a:solidFill>
                  <a:srgbClr val="B92700"/>
                </a:solidFill>
                <a:latin typeface="Times New Roman"/>
              </a:defRPr>
            </a:pPr>
            <a:r>
              <a:t>Đề tài: Hệ thống quản lý nha khoa có tích hợp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3931920"/>
            <a:ext cx="633953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3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3D79"/>
                </a:solidFill>
                <a:latin typeface="Times New Roman"/>
              </a:defRPr>
            </a:pPr>
            <a:r>
              <a:t>BÁO CÁO MÔN: ỨNG DỤNG TRÍ TUỆ NHÂN TẠO</a:t>
            </a:r>
          </a:p>
          <a:p>
            <a:pPr algn="ctr">
              <a:spcBef>
                <a:spcPts val="800"/>
              </a:spcBef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Sinh viên thực hiện: Nhóm 1</a:t>
            </a:r>
            <a:br/>
            <a:r>
              <a:t>(Tạ Thị Thúy Quỳnh - Ngô Xuân Minh Hiếu - Lưu Tuấn Anh)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